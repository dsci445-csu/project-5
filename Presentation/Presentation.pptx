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Illinois DOC Sentencing Machine Learning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Juan Gonzalez, Aaron Graff, Ilijah Pearson, Hope Winsor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Dataset and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data comes from Kaggle, it consists of 3 CSV files with data scraped off the Illinois Department Of Corrections website.</a:t>
            </a:r>
          </a:p>
          <a:p>
            <a:pPr lvl="0"/>
            <a:r>
              <a:rPr/>
              <a:t>Contains information 61,052 individuals who have been incarcerated in Illinois from 1952-2018.</a:t>
            </a:r>
          </a:p>
          <a:p>
            <a:pPr lvl="0"/>
            <a:r>
              <a:rPr/>
              <a:t>“Person” dataset includes simple descriptive information on the person: Name, DOB, Sentencing Date, Race, Eye Color, Hair Color, etc…</a:t>
            </a:r>
          </a:p>
          <a:p>
            <a:pPr lvl="0"/>
            <a:r>
              <a:rPr/>
              <a:t>“Marks” has multiple rows per person listing any additional descriptive features like scars and tattoos.</a:t>
            </a:r>
          </a:p>
          <a:p>
            <a:pPr lvl="0"/>
            <a:r>
              <a:rPr/>
              <a:t>“Sentencing” is information on the charges faced by the individual, the crime categorized by Illinois’ felony classes, and our response variable, sentencing time.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predictors have the strongest effect on sentencing length?</a:t>
            </a:r>
          </a:p>
          <a:p>
            <a:pPr lvl="0"/>
            <a:r>
              <a:rPr/>
              <a:t>How accurately can we predict sentencing length?</a:t>
            </a:r>
          </a:p>
          <a:p>
            <a:pPr lvl="0"/>
            <a:r>
              <a:rPr/>
              <a:t>What predictors have the strongest effect on offence category?</a:t>
            </a:r>
          </a:p>
          <a:p>
            <a:pPr lvl="0"/>
            <a:r>
              <a:rPr/>
              <a:t>How accurately can we predict offence categories?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LASSO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LASSO model = RSS + </a:t>
                </a:r>
                <a14:m>
                  <m:oMath xmlns:m="http://schemas.openxmlformats.org/officeDocument/2006/math">
                    <m:r>
                      <m:t>λ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p</m:t>
                        </m:r>
                      </m:sup>
                      <m:e>
                        <m:sSubSup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is the tuning parameter, to improve interpretability, use penalty to perform feature selection</a:t>
                </a:r>
              </a:p>
              <a:p>
                <a:pPr lvl="0"/>
                <a:r>
                  <a:rPr/>
                  <a:t>cross validation selected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0.01</m:t>
                    </m:r>
                  </m:oMath>
                </a14:m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48200" y="1193800"/>
          <a:ext cx="4038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estimate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hair_Salt.and.Pepper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sex_Male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race_Bi.Racial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race_White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Forward and Backward Subset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4038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3300"/>
                <a:gridCol w="1003300"/>
                <a:gridCol w="1003300"/>
                <a:gridCol w="10033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step (cont)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variable (cont)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year_adm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armed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class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attempted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parent_institution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total_counts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offense_category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month_adm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aggravated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time_sentenced_prior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appx_age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hair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num_tattoos</a:t>
                      </a:r>
                    </a:p>
                  </a:txBody>
                </a:tc>
              </a:tr>
            </a:tbl>
          </a:graphicData>
        </a:graphic>
      </p:graphicFrame>
      <p:pic>
        <p:nvPicPr>
          <p:cNvPr descr="Presentation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796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Generalized Additive Model (GAM)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Extension of linear regression that allows each predictor to have a continuous nonlinear effect on the response</a:t>
                </a:r>
              </a:p>
              <a:p>
                <a:pPr lvl="0"/>
                <a:r>
                  <a:rPr/>
                  <a:t>80:20 split</a:t>
                </a:r>
              </a:p>
              <a:p>
                <a:pPr lvl="0"/>
                <a:r>
                  <a:rPr/>
                  <a:t>Used 10 fold CV to tune the degrees of freedom</a:t>
                </a:r>
              </a:p>
              <a:p>
                <a:pPr lvl="0"/>
                <a:r>
                  <a:rPr/>
                  <a:t>On the test set the GAM achieved:</a:t>
                </a:r>
              </a:p>
              <a:p>
                <a:pPr lvl="0"/>
                <a:r>
                  <a:rPr/>
                  <a:t>RMSE = 12.20631</a:t>
                </a:r>
              </a:p>
              <a:p>
                <a:pPr lvl="0"/>
                <a:r>
                  <a:rPr/>
                  <a:t>Meaning that our prediction error is </a:t>
                </a:r>
                <a14:m>
                  <m:oMath xmlns:m="http://schemas.openxmlformats.org/officeDocument/2006/math">
                    <m:r>
                      <m:t>12.20631</m:t>
                    </m:r>
                  </m:oMath>
                </a14:m>
                <a:r>
                  <a:rPr/>
                  <a:t> years.</a:t>
                </a:r>
              </a:p>
              <a:p>
                <a:pPr lvl="0"/>
                <a:r>
                  <a:rPr/>
                  <a:t>R^2=0.7139504</a:t>
                </a:r>
              </a:p>
              <a:p>
                <a:pPr lvl="0"/>
                <a:r>
                  <a:rPr/>
                  <a:t>Meaning that our model explains 71% of the variability in sentencing length on new data.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GAM</a:t>
            </a:r>
          </a:p>
        </p:txBody>
      </p:sp>
      <p:pic>
        <p:nvPicPr>
          <p:cNvPr descr="Presentation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08200" y="1193800"/>
            <a:ext cx="4927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Forest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Chosen to deal with correlation amongst trees.</a:t>
                </a:r>
              </a:p>
              <a:p>
                <a:pPr lvl="0"/>
                <a:r>
                  <a:rPr/>
                  <a:t>58,836 observations. 70:30 Split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∼</m:t>
                    </m:r>
                  </m:oMath>
                </a14:m>
                <a:r>
                  <a:rPr/>
                  <a:t> (41,200 | 17,600)</a:t>
                </a:r>
              </a:p>
              <a:p>
                <a:pPr lvl="0"/>
                <a:r>
                  <a:rPr/>
                  <a:t>Fit 500 trees with 4 randomly chosen predictors for each tree.</a:t>
                </a:r>
              </a:p>
              <a:p>
                <a:pPr lvl="0"/>
                <a:r>
                  <a:rPr/>
                  <a:t>Out-of-Bag error is calculated by checking the performance of each tree on a subset of unseen data during the training process.</a:t>
                </a:r>
                <a:br/>
              </a:p>
            </p:txBody>
          </p:sp>
        </mc:Choice>
      </mc:AlternateContent>
      <p:pic>
        <p:nvPicPr>
          <p:cNvPr descr="Presentation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Predictive Performance - Random Forests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12.11</a:t>
            </a:r>
            <a:r>
              <a:rPr/>
              <a:t> OOB RMSE / </a:t>
            </a:r>
            <a:r>
              <a:rPr b="1"/>
              <a:t>12. 18</a:t>
            </a:r>
            <a:r>
              <a:rPr/>
              <a:t> Test RMSE. Similar RMSEs is good (generalizes well).</a:t>
            </a:r>
          </a:p>
          <a:p>
            <a:pPr lvl="0"/>
            <a:r>
              <a:rPr/>
              <a:t>As sentencing length goes up, our models prediction becomes more variable. However, the models’ errors scale proportionally to sentencing length. Meaning we don’t typically get crazy predictions for lower sentencing lengths.</a:t>
            </a:r>
          </a:p>
        </p:txBody>
      </p:sp>
      <p:pic>
        <p:nvPicPr>
          <p:cNvPr descr="Presentation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-https://www.kaggle.com/datasets/davidjfisher/illinois-doc-labeled-faces-dataset -https://www.idoc.state.il.us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Slides - Complete Variable Importance for RF</a:t>
            </a:r>
          </a:p>
        </p:txBody>
      </p:sp>
      <p:pic>
        <p:nvPicPr>
          <p:cNvPr descr="Presentation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08200" y="1193800"/>
            <a:ext cx="4927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Illinois DOC Sentencing Machine Learning Analysis</dc:title>
  <dc:creator>Juan Gonzalez, Aaron Graff, Ilijah Pearson, Hope Winsor</dc:creator>
  <cp:keywords/>
  <dcterms:created xsi:type="dcterms:W3CDTF">2025-12-09T05:03:18Z</dcterms:created>
  <dcterms:modified xsi:type="dcterms:W3CDTF">2025-12-09T05:03:18Z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