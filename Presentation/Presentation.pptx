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3" Type="http://schemas.openxmlformats.org/officeDocument/2006/relationships/viewProps" Target="viewProps.xml" /><Relationship Id="rId2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5" Type="http://schemas.openxmlformats.org/officeDocument/2006/relationships/tableStyles" Target="tableStyles.xml" /><Relationship Id="rId2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kaggle.com/datasets/davidjfisher/illinois-doc-labeled-faces-dataset/data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Illinois DOC Sentencing Machine Learning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Juan Gonzalez, Aaron Graff, Ilijah Pearson, Hope Winsor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Dataset and 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Our data comes from Kaggle, with data scraped off the Illinois Department Of Corrections website.</a:t>
            </a:r>
          </a:p>
          <a:p>
            <a:pPr lvl="0"/>
            <a:r>
              <a:rPr/>
              <a:t>Contains information 61,052 individuals who have been incarcerated in Illinois from 1952-2018.</a:t>
            </a:r>
          </a:p>
          <a:p>
            <a:pPr lvl="0"/>
            <a:r>
              <a:rPr/>
              <a:t>“Person” dataset includes simple descriptive information on the person: Name, DOB, Sentencing Date, Race, Eye Color, Hair Color, etc…</a:t>
            </a:r>
          </a:p>
          <a:p>
            <a:pPr lvl="0"/>
            <a:r>
              <a:rPr/>
              <a:t>“Marks” has multiple rows per person listing any additional descriptive features like scars and tattoos.</a:t>
            </a:r>
          </a:p>
          <a:p>
            <a:pPr lvl="0"/>
            <a:r>
              <a:rPr/>
              <a:t>“Sentencing” is information on the charges faced by the individual, the crime categorized by Illinois’ felony classes, and our response variable, sentencing time.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Research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What predictors have the strongest effect on sentencing length?</a:t>
            </a:r>
          </a:p>
          <a:p>
            <a:pPr lvl="0"/>
            <a:r>
              <a:rPr/>
              <a:t>How accurately can we predict sentencing length?</a:t>
            </a:r>
          </a:p>
          <a:p>
            <a:pPr lvl="0"/>
            <a:r>
              <a:rPr/>
              <a:t>What predictors have the strongest effect on offence category?</a:t>
            </a:r>
          </a:p>
          <a:p>
            <a:pPr lvl="0"/>
            <a:r>
              <a:rPr/>
              <a:t>How accurately can we predict offence categories?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K-Nearest Neighbors Background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K-Nearest Neighbors (KNN) is a classification method that loops through each point in a dataset, and identifies the k points that are closest to that point</a:t>
            </a:r>
          </a:p>
          <a:p>
            <a:pPr lvl="1"/>
            <a:r>
              <a:rPr/>
              <a:t>This k value is adjustable and helps determine the classifier itself, so tuning k is critical for optimizing performance.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KNN on Offense Category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Goal:</a:t>
            </a:r>
            <a:r>
              <a:rPr/>
              <a:t> Predict offense category for individuals based on all other variables.</a:t>
            </a:r>
          </a:p>
          <a:p>
            <a:pPr lvl="1"/>
            <a:r>
              <a:rPr b="1"/>
              <a:t>Offense categories (manually created):</a:t>
            </a:r>
            <a:r>
              <a:rPr/>
              <a:t> controlled substance possession without a prescription, burglary, murder, armed robbery, theft (identity or property), battery, sexual assault, forgery, kidnapping, illegal firearm/weapon/handgun use or possession, harassment, bribery, drug/meth manufacturing, vehicular hijacking/theft, DUI, child porn, obstructing justice, home invasion, and other</a:t>
            </a:r>
          </a:p>
          <a:p>
            <a:pPr lvl="2"/>
            <a:r>
              <a:rPr/>
              <a:t>Categories besides other accounted for &gt;90% of offenses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Drawbacks/Issues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Problem:</a:t>
            </a:r>
            <a:r>
              <a:rPr/>
              <a:t> This method can be extremely time-expensive with large training sets due to the nature of looping through each point, as I found out during data fitting</a:t>
            </a:r>
          </a:p>
          <a:p>
            <a:pPr lvl="1"/>
            <a:r>
              <a:rPr/>
              <a:t>47,000+ training observations (for an 80-20 split)</a:t>
            </a:r>
          </a:p>
          <a:p>
            <a:pPr lvl="1"/>
            <a:r>
              <a:rPr/>
              <a:t>2.75 hour runtime</a:t>
            </a:r>
          </a:p>
          <a:p>
            <a:pPr lvl="0"/>
            <a:r>
              <a:rPr/>
              <a:t>No variable selection or subset with KNN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KNN Cross Validation Results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Ten-fold cross-validation performed with the following possible k-values:</a:t>
            </a:r>
          </a:p>
          <a:p>
            <a:pPr lvl="1"/>
            <a:r>
              <a:rPr/>
              <a:t>10, 50, 100, 200, 500, 1000, 5000</a:t>
            </a:r>
          </a:p>
          <a:p>
            <a:pPr lvl="1"/>
            <a:r>
              <a:rPr/>
              <a:t>Chose wide range due to large amount of data</a:t>
            </a:r>
          </a:p>
          <a:p>
            <a:pPr lvl="0"/>
            <a:r>
              <a:rPr/>
              <a:t>Cross-validation used to pick the k-value returning the best accuracy, which was k=50</a:t>
            </a:r>
          </a:p>
          <a:p>
            <a:pPr lvl="0"/>
            <a:r>
              <a:rPr/>
              <a:t>Accuracy decreased significantly for k &gt; 50</a:t>
            </a:r>
          </a:p>
        </p:txBody>
      </p:sp>
      <p:pic>
        <p:nvPicPr>
          <p:cNvPr descr="Presentation_files/figure-pptx/knn_cv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482600"/>
            <a:ext cx="5105400" cy="383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KNN Model Performance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Truth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correct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prop_correct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BATTERY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1234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926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0.750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BURGLARY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877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0.570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DRUG MANUFACTURE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0.414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DUI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213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0.370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FORGERY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HOME INVASION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93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0.075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ILL. CONTR. SUBST. POSS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1536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1181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0.769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ILLEGAL WEAPON USE/POSS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1110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818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0.737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ILLEGAL/CHILD PORN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0.000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Truth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correct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prop_correct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KIDNAPPING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0.091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MURDER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1359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1242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0.914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OBSTRUCTING JUSTICE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OTHER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1706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854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0.501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ROBBERY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916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0.606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SEXUAL OFFENSE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960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691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0.720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THEFT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582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0.318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VEHICULAR HIJACKING/THEFT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194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0.088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KNN Model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Test error rate seems high on the surface (almost 40%)</a:t>
            </a:r>
          </a:p>
          <a:p>
            <a:pPr lvl="1"/>
            <a:r>
              <a:rPr/>
              <a:t>But we have to account for the fact that 17 categories are present</a:t>
            </a:r>
          </a:p>
          <a:p>
            <a:pPr lvl="2"/>
            <a:r>
              <a:rPr/>
              <a:t>Expected guessing error w/ 17 prediction categories: ~94.12%</a:t>
            </a:r>
          </a:p>
          <a:p>
            <a:pPr lvl="0"/>
            <a:r>
              <a:rPr/>
              <a:t>Predictive accuracy was significantly better in categories with more observations (e.g., battery, illegal weapon use/possession, murder) than categories with few observations (e.g., vehicular hijacking/theft, forgery).</a:t>
            </a:r>
          </a:p>
          <a:p>
            <a:pPr lvl="1"/>
            <a:r>
              <a:rPr/>
              <a:t>Only exceptions: drug manufacturing, theft (&lt; 45% accuracy).</a:t>
            </a:r>
          </a:p>
          <a:p>
            <a:pPr lvl="0"/>
            <a:r>
              <a:rPr/>
              <a:t>Interpretation: more variability in predictor means for lower level offenses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LASSO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LASSO model = RSS + </a:t>
                </a:r>
                <a14:m>
                  <m:oMath xmlns:m="http://schemas.openxmlformats.org/officeDocument/2006/math">
                    <m:r>
                      <m:t>λ</m:t>
                    </m:r>
                    <m:nary>
                      <m:naryPr>
                        <m:chr m:val="∑"/>
                        <m:limLoc m:val="undOvr"/>
                        <m:subHide m:val="off"/>
                        <m:supHide m:val="off"/>
                      </m:naryPr>
                      <m:sub>
                        <m:r>
                          <m:t>j</m:t>
                        </m:r>
                        <m:r>
                          <m:rPr>
                            <m:sty m:val="p"/>
                          </m:rPr>
                          <m:t>=</m:t>
                        </m:r>
                        <m:r>
                          <m:t>1</m:t>
                        </m:r>
                      </m:sub>
                      <m:sup>
                        <m:r>
                          <m:t>p</m:t>
                        </m:r>
                      </m:sup>
                      <m:e>
                        <m:sSubSup>
                          <m:e>
                            <m:r>
                              <m:t>β</m:t>
                            </m:r>
                          </m:e>
                          <m:sub>
                            <m:r>
                              <m:t>j</m:t>
                            </m:r>
                          </m:sub>
                          <m:sup>
                            <m:r>
                              <m:t>2</m:t>
                            </m:r>
                          </m:sup>
                        </m:sSubSup>
                      </m:e>
                    </m:nary>
                  </m:oMath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/>
                  <a:t> is the tuning parameter, to improve interpretability, use penalty to perform feature selection</a:t>
                </a:r>
              </a:p>
              <a:p>
                <a:pPr lvl="0"/>
                <a:r>
                  <a:rPr/>
                  <a:t>cross validation selected </a:t>
                </a:r>
                <a14:m>
                  <m:oMath xmlns:m="http://schemas.openxmlformats.org/officeDocument/2006/math">
                    <m:r>
                      <m:t>λ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0.01</m:t>
                    </m:r>
                  </m:oMath>
                </a14:m>
              </a:p>
            </p:txBody>
          </p:sp>
        </mc:Choice>
      </mc:AlternateContent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648200" y="1193800"/>
          <a:ext cx="4038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term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estimate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height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hair_Salt.and.Pepper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sex_Male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race_Bi.Racial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race_White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Forward and Backward Subset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4038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3300"/>
                <a:gridCol w="1003300"/>
                <a:gridCol w="1003300"/>
                <a:gridCol w="1003300"/>
              </a:tblGrid>
              <a:tr h="0"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step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step (cont)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variable (cont)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year_adm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armed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class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attempted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parent_institution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total_counts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weight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offense_category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month_adm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aggravated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time_sentenced_prior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appx_age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hair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eyes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num_tattoos</a:t>
                      </a:r>
                    </a:p>
                  </a:txBody>
                </a:tc>
              </a:tr>
            </a:tbl>
          </a:graphicData>
        </a:graphic>
      </p:graphicFrame>
      <p:pic>
        <p:nvPicPr>
          <p:cNvPr descr="Presentation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879600"/>
            <a:ext cx="4038600" cy="2019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Generalized Additive Model (GAM)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Extension of linear regression that allows each predictor to have a continuous nonlinear effect on the response</a:t>
                </a:r>
              </a:p>
              <a:p>
                <a:pPr lvl="0"/>
                <a:r>
                  <a:rPr/>
                  <a:t>80:20 split</a:t>
                </a:r>
              </a:p>
              <a:p>
                <a:pPr lvl="0"/>
                <a:r>
                  <a:rPr/>
                  <a:t>Used 10 fold CV to tune the degrees of freedom</a:t>
                </a:r>
              </a:p>
              <a:p>
                <a:pPr lvl="0"/>
                <a:r>
                  <a:rPr/>
                  <a:t>On the test set the GAM achieved:</a:t>
                </a:r>
              </a:p>
              <a:p>
                <a:pPr lvl="0"/>
                <a:r>
                  <a:rPr/>
                  <a:t>RMSE = 12.20631</a:t>
                </a:r>
              </a:p>
              <a:p>
                <a:pPr lvl="0"/>
                <a:r>
                  <a:rPr/>
                  <a:t>Meaning that our prediction error is </a:t>
                </a:r>
                <a14:m>
                  <m:oMath xmlns:m="http://schemas.openxmlformats.org/officeDocument/2006/math">
                    <m:r>
                      <m:t>12.20631</m:t>
                    </m:r>
                  </m:oMath>
                </a14:m>
                <a:r>
                  <a:rPr/>
                  <a:t> years.</a:t>
                </a:r>
              </a:p>
              <a:p>
                <a:pPr lvl="0"/>
                <a:r>
                  <a:rPr/>
                  <a:t>R^2=0.7139504</a:t>
                </a:r>
              </a:p>
              <a:p>
                <a:pPr lvl="0"/>
                <a:r>
                  <a:rPr/>
                  <a:t>Meaning that our model explains 71% of the variability in sentencing length on new data.</a:t>
                </a:r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GAM</a:t>
            </a:r>
          </a:p>
        </p:txBody>
      </p:sp>
      <p:pic>
        <p:nvPicPr>
          <p:cNvPr descr="Presentation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08200" y="1193800"/>
            <a:ext cx="4927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Random Forest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Chosen to deal with correlation amongst trees.</a:t>
                </a:r>
              </a:p>
              <a:p>
                <a:pPr lvl="0"/>
                <a:r>
                  <a:rPr/>
                  <a:t>58,836 observations. 70:30 Split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∼</m:t>
                    </m:r>
                  </m:oMath>
                </a14:m>
                <a:r>
                  <a:rPr/>
                  <a:t> (41,200 | 17,600)</a:t>
                </a:r>
              </a:p>
              <a:p>
                <a:pPr lvl="0"/>
                <a:r>
                  <a:rPr/>
                  <a:t>Fit 500 trees with 4 randomly chosen predictors for each tree.</a:t>
                </a:r>
              </a:p>
              <a:p>
                <a:pPr lvl="0"/>
                <a:r>
                  <a:rPr/>
                  <a:t>Out-of-Bag error is calculated by checking the performance of each tree on a subset of unseen data during the training process.</a:t>
                </a:r>
                <a:br/>
              </a:p>
            </p:txBody>
          </p:sp>
        </mc:Choice>
      </mc:AlternateContent>
      <p:pic>
        <p:nvPicPr>
          <p:cNvPr descr="Presentation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Predictive Performance - Random Forests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12.11</a:t>
            </a:r>
            <a:r>
              <a:rPr/>
              <a:t> OOB RMSE / </a:t>
            </a:r>
            <a:r>
              <a:rPr b="1"/>
              <a:t>12. 18</a:t>
            </a:r>
            <a:r>
              <a:rPr/>
              <a:t> Test RMSE. Similar RMSEs is good (generalizes well).</a:t>
            </a:r>
          </a:p>
          <a:p>
            <a:pPr lvl="0"/>
            <a:r>
              <a:rPr/>
              <a:t>As sentencing length goes up, our models prediction becomes more variable. However, the models’ errors scale proportionally to sentencing length. Meaning we don’t typically get crazy predictions for lower sentencing lengths.</a:t>
            </a:r>
          </a:p>
        </p:txBody>
      </p:sp>
      <p:pic>
        <p:nvPicPr>
          <p:cNvPr descr="Presentation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relationship between prison sentence and our predictors is likely not linear</a:t>
            </a:r>
          </a:p>
          <a:p>
            <a:pPr lvl="1"/>
            <a:r>
              <a:rPr/>
              <a:t>random forest performed best, followed by GAM, and then linear regression</a:t>
            </a:r>
          </a:p>
          <a:p>
            <a:pPr lvl="0"/>
            <a:r>
              <a:rPr/>
              <a:t>The best predictors of prison sentence are year admitted, parent institution, total counts charged, prior sentencing time, and criminal class, and offense category</a:t>
            </a:r>
          </a:p>
          <a:p>
            <a:pPr lvl="1"/>
            <a:r>
              <a:rPr/>
              <a:t>demographic data like race, sex, and weight are less helpful predictors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Fisher, David. 2019. Illinois DOC labeled faces dataset, Version 1. Retrieved 11/19/2025 from </a:t>
            </a:r>
            <a:r>
              <a:rPr>
                <a:hlinkClick r:id="rId2"/>
              </a:rPr>
              <a:t>https://www.kaggle.com/datasets/davidjfisher/illinois-doc-labeled-faces-dataset/data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Death Penalty Information Center. (2023). </a:t>
            </a:r>
            <a:r>
              <a:rPr i="1"/>
              <a:t>Time on Death Row</a:t>
            </a:r>
            <a:r>
              <a:rPr/>
              <a:t>. Death Penalty Information Center; Death Penalty Information Center. https://deathpenaltyinfo.org/death-row/death-row-time-on-death-row.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Questions?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Bonus Slides - Complete Variable Importance for RF</a:t>
            </a:r>
          </a:p>
        </p:txBody>
      </p:sp>
      <p:pic>
        <p:nvPicPr>
          <p:cNvPr descr="Presentation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08200" y="1193800"/>
            <a:ext cx="4927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Illinois DOC Sentencing Machine Learning Analysis</dc:title>
  <dc:creator>Juan Gonzalez, Aaron Graff, Ilijah Pearson, Hope Winsor</dc:creator>
  <cp:keywords/>
  <dcterms:created xsi:type="dcterms:W3CDTF">2025-12-09T07:03:34Z</dcterms:created>
  <dcterms:modified xsi:type="dcterms:W3CDTF">2025-12-09T07:03:34Z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